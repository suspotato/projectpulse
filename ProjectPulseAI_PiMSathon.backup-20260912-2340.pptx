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4526280"/>
            <a:ext cx="658368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A0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PiMSathon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Pulse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 Intelligence for PM · Program · Portfolio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data from the tools teams already use.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findings deterministically. Let AI put them into words.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640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589520" y="1261872"/>
            <a:ext cx="365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89520" y="2176272"/>
            <a:ext cx="365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89520" y="3090672"/>
            <a:ext cx="365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67512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· Jira · Redmine · Backlog · Excel · Git</a:t>
            </a:r>
            <a:endParaRPr lang="en-US" sz="10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2514B356-DEE4-41E0-3787-F0E37E35CE85}"/>
              </a:ext>
            </a:extLst>
          </p:cNvPr>
          <p:cNvSpPr/>
          <p:nvPr/>
        </p:nvSpPr>
        <p:spPr>
          <a:xfrm>
            <a:off x="7569926" y="4210812"/>
            <a:ext cx="365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74883E24-D2C0-31EA-4D61-72DC0C004923}"/>
              </a:ext>
            </a:extLst>
          </p:cNvPr>
          <p:cNvSpPr/>
          <p:nvPr/>
        </p:nvSpPr>
        <p:spPr>
          <a:xfrm>
            <a:off x="6655526" y="45034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ja-JP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Decision</a:t>
            </a:r>
            <a:endParaRPr lang="en-US" sz="2200" dirty="0"/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62678A3F-44C3-14EF-795E-6C570D9339C4}"/>
              </a:ext>
            </a:extLst>
          </p:cNvPr>
          <p:cNvSpPr txBox="1"/>
          <p:nvPr/>
        </p:nvSpPr>
        <p:spPr>
          <a:xfrm>
            <a:off x="457200" y="4140892"/>
            <a:ext cx="1018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ja-JP" altLang="ja-JP" sz="12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" panose="020B0502040204020203" pitchFamily="34" charset="0"/>
              </a:rPr>
              <a:t>FJP.FA.G3</a:t>
            </a:r>
            <a:r>
              <a:rPr lang="ja-JP" altLang="en-US" sz="12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" panose="020B0502040204020203" pitchFamily="34" charset="0"/>
              </a:rPr>
              <a:t>　</a:t>
            </a:r>
            <a:r>
              <a:rPr lang="en-US" altLang="ja-JP" sz="12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" panose="020B0502040204020203" pitchFamily="34" charset="0"/>
              </a:rPr>
              <a:t>Team 2</a:t>
            </a:r>
            <a:endParaRPr lang="en-US" sz="1200" b="1" dirty="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Exists — But PMs Work Alone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49808" y="185623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Redmine / Backlog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22677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WBS schedules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6791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issue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49808" y="30906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&amp;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49808" y="35021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effort logs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49808" y="391363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deployment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1325880"/>
            <a:ext cx="2651760" cy="960120"/>
          </a:xfrm>
          <a:prstGeom prst="rect">
            <a:avLst/>
          </a:prstGeom>
          <a:solidFill>
            <a:srgbClr val="FEF0E4"/>
          </a:solidFill>
          <a:ln w="1905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950208" y="13716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Synthesis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50208" y="166420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reads, correlates, and judges across disconnected sources daily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0" y="2423160"/>
            <a:ext cx="2651760" cy="960120"/>
          </a:xfrm>
          <a:prstGeom prst="rect">
            <a:avLst/>
          </a:prstGeom>
          <a:solidFill>
            <a:srgbClr val="FEF0E4"/>
          </a:solidFill>
          <a:ln w="1905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950208" y="24688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WHY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50208" y="276148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report status — they cannot explain root cause or project impact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0" y="3520440"/>
            <a:ext cx="2651760" cy="960120"/>
          </a:xfrm>
          <a:prstGeom prst="rect">
            <a:avLst/>
          </a:prstGeom>
          <a:solidFill>
            <a:srgbClr val="FEF0E4"/>
          </a:solidFill>
          <a:ln w="1905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950208" y="35661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Risk Signals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50208" y="385876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surface after options narrow; reactive, never proactive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9400" y="1325880"/>
            <a:ext cx="2148840" cy="3154680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720840" y="1417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Need Answers 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48272" y="1901952"/>
            <a:ext cx="1920240" cy="713232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748272" y="190195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48272" y="2770632"/>
            <a:ext cx="1920240" cy="713232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748272" y="277063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48272" y="3639312"/>
            <a:ext cx="1920240" cy="713232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748272" y="363931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 next?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365760" y="479145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PM tool today connects data across sources, explains causes, and recommends what to do — so PMs must do it themselves.</a:t>
            </a:r>
            <a:endParaRPr lang="en-US" sz="1000" dirty="0"/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6B2AA06E-0D05-1E65-3668-27CD184EB440}"/>
              </a:ext>
            </a:extLst>
          </p:cNvPr>
          <p:cNvSpPr/>
          <p:nvPr/>
        </p:nvSpPr>
        <p:spPr>
          <a:xfrm>
            <a:off x="3284655" y="2571750"/>
            <a:ext cx="496389" cy="39090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Went Further Than the Brief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says "Project Manager." Our system thinks in three tiers.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743200" cy="3017520"/>
          </a:xfrm>
          <a:prstGeom prst="rect">
            <a:avLst/>
          </a:prstGeom>
          <a:solidFill>
            <a:srgbClr val="12254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Individual project 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 score + risk flags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564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Root cause &amp; impact analysis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8496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Recommended actions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 behind every finding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1783080"/>
            <a:ext cx="2743200" cy="3017520"/>
          </a:xfrm>
          <a:prstGeom prst="rect">
            <a:avLst/>
          </a:prstGeom>
          <a:solidFill>
            <a:srgbClr val="163A6F"/>
          </a:solidFill>
          <a:ln w="254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1783080"/>
            <a:ext cx="2743200" cy="5029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364992" y="18013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64992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26700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Cross-project dashboard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4992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Resource contention detection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34564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Schedule dependency tracking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38496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Program-level health rollup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64992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Multi-project comparison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4553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Beyond the hackathon brief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1783080"/>
            <a:ext cx="2743200" cy="3017520"/>
          </a:xfrm>
          <a:prstGeom prst="rect">
            <a:avLst/>
          </a:prstGeom>
          <a:solidFill>
            <a:srgbClr val="12254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181344" y="178308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318504" y="18013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18504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View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18504" y="26700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programs at a glance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18504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Strategic risk surface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18504" y="34564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Org-level capacity signals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18504" y="38496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Dashboard generator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18504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Reports for steering committee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Tool — An Intelligence Layer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an AI reasoning layer on top of the tools teams already use. No migration. No replacement.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 (no changes required)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66420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383280" y="16642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2272" y="166420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462272" y="16642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41264" y="166420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41264" y="16642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0256" y="166420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16642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99248" y="166420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699248" y="16642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2487168"/>
            <a:ext cx="8412480" cy="141732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5420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PULSE AI — INTELLIGENCE LAYER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898648"/>
            <a:ext cx="1261872" cy="822960"/>
          </a:xfrm>
          <a:prstGeom prst="rect">
            <a:avLst/>
          </a:prstGeom>
          <a:solidFill>
            <a:srgbClr val="163A6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02920" y="2926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2644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Domain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92808" y="2898648"/>
            <a:ext cx="1261872" cy="822960"/>
          </a:xfrm>
          <a:prstGeom prst="rect">
            <a:avLst/>
          </a:prstGeom>
          <a:solidFill>
            <a:srgbClr val="163A6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92808" y="2926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92808" y="32644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editable rules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82696" y="2898648"/>
            <a:ext cx="1261872" cy="822960"/>
          </a:xfrm>
          <a:prstGeom prst="rect">
            <a:avLst/>
          </a:prstGeom>
          <a:solidFill>
            <a:srgbClr val="163A6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282696" y="2926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82696" y="32644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72584" y="2898648"/>
            <a:ext cx="1261872" cy="822960"/>
          </a:xfrm>
          <a:prstGeom prst="rect">
            <a:avLst/>
          </a:prstGeom>
          <a:solidFill>
            <a:srgbClr val="163A6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672584" y="2926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72584" y="32644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ordering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2472" y="2898648"/>
            <a:ext cx="1261872" cy="822960"/>
          </a:xfrm>
          <a:prstGeom prst="rect">
            <a:avLst/>
          </a:prstGeom>
          <a:solidFill>
            <a:srgbClr val="163A6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062472" y="2926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62472" y="32644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born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52360" y="2898648"/>
            <a:ext cx="1261872" cy="822960"/>
          </a:xfrm>
          <a:prstGeom prst="rect">
            <a:avLst/>
          </a:prstGeom>
          <a:solidFill>
            <a:srgbClr val="163A6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7452360" y="29260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52360" y="32644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words only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0" y="39502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48640" y="4297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OUTPUTS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42793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 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71800" y="42793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 Flags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42793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Root Cause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42793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Impact Range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42793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Rec. Actions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43800" y="42793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 — AI Only for Words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screen can be traced to a cell someone typed. The language model writes sentences — never figures.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68680" cy="1234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868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9576" y="1645920"/>
            <a:ext cx="274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90472" y="1645920"/>
            <a:ext cx="1234440" cy="1234440"/>
          </a:xfrm>
          <a:prstGeom prst="rect">
            <a:avLst/>
          </a:prstGeom>
          <a:solidFill>
            <a:srgbClr val="DDE8FA"/>
          </a:solidFill>
          <a:ln w="12700">
            <a:solidFill>
              <a:srgbClr val="DDE8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490472" y="164592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store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61488" y="1645920"/>
            <a:ext cx="274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72384" y="1645920"/>
            <a:ext cx="1234440" cy="12344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072384" y="164592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645920"/>
            <a:ext cx="274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54296" y="1645920"/>
            <a:ext cx="1234440" cy="1234440"/>
          </a:xfrm>
          <a:prstGeom prst="rect">
            <a:avLst/>
          </a:prstGeom>
          <a:solidFill>
            <a:srgbClr val="0A1F44"/>
          </a:solidFill>
          <a:ln w="254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654296" y="164592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numbers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here)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25312" y="1645920"/>
            <a:ext cx="274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1645920"/>
            <a:ext cx="1051560" cy="1234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36208" y="1645920"/>
            <a:ext cx="1051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(sentences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24344" y="1645920"/>
            <a:ext cx="274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1645920"/>
            <a:ext cx="86868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635240" y="1645920"/>
            <a:ext cx="868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deterministic code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03720" y="2944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phrasing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274320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has no digit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374904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given tokens, not numbers. It cannot change a figure it was never shown.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3375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310128" y="3337560"/>
            <a:ext cx="274320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401568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validator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19856" y="374904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digit the model emits is rejected. Substitution happens after validation passes.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54496" y="33375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254496" y="3337560"/>
            <a:ext cx="274320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345936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64224" y="374904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fails, a Jinja template renders identical facts. No finding changes.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Pragmatic, Auditable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enterprise-scale complexity. Every layer does one job, reads by a judge, runs without Docker or an API key.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1920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9202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93192" y="159105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Jira REST / Export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Excel on OneDrive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Meeting 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572768"/>
            <a:ext cx="1920240" cy="2697480"/>
          </a:xfrm>
          <a:prstGeom prst="rect">
            <a:avLst/>
          </a:prstGeom>
          <a:solidFill>
            <a:srgbClr val="0D2B5E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468880" y="1572768"/>
            <a:ext cx="1920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542032" y="159105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0116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3-layer: raw → tool → domain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60320" y="26517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Snapshot differ (Excel)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Precision model (exact / bounded)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572768"/>
            <a:ext cx="1956816" cy="2697480"/>
          </a:xfrm>
          <a:prstGeom prst="rect">
            <a:avLst/>
          </a:prstGeom>
          <a:solidFill>
            <a:srgbClr val="0A1F44"/>
          </a:solidFill>
          <a:ln w="254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1572768"/>
            <a:ext cx="1956816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690872" y="159105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0116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Rules (ZEN + Python fallback)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26517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Schedule (NetworkX critical path)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Temporal · Contention · Assembler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1572768"/>
            <a:ext cx="2029968" cy="2697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766560" y="1572768"/>
            <a:ext cx="2029968" cy="3474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839712" y="159105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0116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FastAPI  (backend)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26517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+ TypeScript  (frontend)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3291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+ pgvector  (store)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407408"/>
            <a:ext cx="84124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20040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20040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563624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1563624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07208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807208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pgvector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50792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050792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+ Tunnel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94376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294376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Rules (Rust)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37960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537960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781544" y="4535424"/>
            <a:ext cx="1170432" cy="310896"/>
          </a:xfrm>
          <a:prstGeom prst="rect">
            <a:avLst/>
          </a:prstGeom>
          <a:solidFill>
            <a:srgbClr val="DDE8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7781544" y="4535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/ Gemini</a:t>
            </a:r>
            <a:endParaRPr lang="en-US" sz="850" dirty="0"/>
          </a:p>
        </p:txBody>
      </p:sp>
      <p:sp>
        <p:nvSpPr>
          <p:cNvPr id="48" name="矢印: 右 47">
            <a:extLst>
              <a:ext uri="{FF2B5EF4-FFF2-40B4-BE49-F238E27FC236}">
                <a16:creationId xmlns:a16="http://schemas.microsoft.com/office/drawing/2014/main" id="{DF9BFEFE-D9C5-4F07-5951-4547702734DB}"/>
              </a:ext>
            </a:extLst>
          </p:cNvPr>
          <p:cNvSpPr/>
          <p:nvPr/>
        </p:nvSpPr>
        <p:spPr>
          <a:xfrm>
            <a:off x="2240280" y="2776511"/>
            <a:ext cx="228600" cy="306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矢印: 右 48">
            <a:extLst>
              <a:ext uri="{FF2B5EF4-FFF2-40B4-BE49-F238E27FC236}">
                <a16:creationId xmlns:a16="http://schemas.microsoft.com/office/drawing/2014/main" id="{8B384357-6303-28D7-1348-19773A9E0977}"/>
              </a:ext>
            </a:extLst>
          </p:cNvPr>
          <p:cNvSpPr/>
          <p:nvPr/>
        </p:nvSpPr>
        <p:spPr>
          <a:xfrm>
            <a:off x="4398264" y="2788266"/>
            <a:ext cx="228600" cy="306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矢印: 右 49">
            <a:extLst>
              <a:ext uri="{FF2B5EF4-FFF2-40B4-BE49-F238E27FC236}">
                <a16:creationId xmlns:a16="http://schemas.microsoft.com/office/drawing/2014/main" id="{CAECFCE4-4567-1ABE-2C6F-150AAF33F2FE}"/>
              </a:ext>
            </a:extLst>
          </p:cNvPr>
          <p:cNvSpPr/>
          <p:nvPr/>
        </p:nvSpPr>
        <p:spPr>
          <a:xfrm>
            <a:off x="6588252" y="2788266"/>
            <a:ext cx="228600" cy="306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One Intelligence Layer.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627632"/>
          </a:xfrm>
          <a:prstGeom prst="rect">
            <a:avLst/>
          </a:prstGeom>
          <a:solidFill>
            <a:srgbClr val="1E0808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29768" y="12710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at risk?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12710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0992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editable decision rules fire against ~30 computed scalars. Every match carries a trace: which thresholds fired and the actual values.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60520" cy="1627632"/>
          </a:xfrm>
          <a:prstGeom prst="rect">
            <a:avLst/>
          </a:prstGeom>
          <a:solidFill>
            <a:srgbClr val="1F1208"/>
          </a:solidFill>
          <a:ln w="1905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60520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2710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happening?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04611" y="1271016"/>
            <a:ext cx="12279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18888" y="170992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Provably-ordered state changes matched against named causal hypotheses. An unprovable ordering is dropped — not hedged.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160520" cy="1627632"/>
          </a:xfrm>
          <a:prstGeom prst="rect">
            <a:avLst/>
          </a:prstGeom>
          <a:solidFill>
            <a:srgbClr val="042030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160520" cy="4023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29768" y="30998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it impact?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30998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" y="353872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forward pass computes propagated_days — delay nobody has written down yet — from stated dependency edges only.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60520" cy="1627632"/>
          </a:xfrm>
          <a:prstGeom prst="rect">
            <a:avLst/>
          </a:prstGeom>
          <a:solidFill>
            <a:srgbClr val="041A12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160520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18888" y="30998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 next?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13171" y="3099816"/>
            <a:ext cx="13193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ASSEMBLY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8888" y="353872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similar cases and PM-reviewable recommended actions, assembled from the same evidence bundle every page reads.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DELIVERED FOR ROUND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600" b="1" baseline="30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Version: The Core Intelligence, End-to-End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1367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can run the code and trace every number back to a source record.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531620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export replay + Excel snapshot differ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" y="168576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raw/tool/domain schema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990779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0961" y="1934609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model: exact vs bounded timestamps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576" y="2510028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84632" y="2437529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19-rule engine (editable, traceable)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8576" y="2743200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84632" y="2684417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schedule + propagated delay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8576" y="2963309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95736" y="2907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Provably-ordered causal chains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04972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0961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contention across projects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8937" y="3436185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8576" y="3718343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84632" y="365074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Program · Project views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8576" y="3954453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84632" y="3867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bundle with evidence panel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4004" y="4426673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84632" y="41368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 with 8-stage validator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2698" y="4190563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84632" y="43577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· Risk · Team · Reports · 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53712" y="1579299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572000" y="1572768"/>
            <a:ext cx="4206240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663440" y="16002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28" y="20299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 Program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28" y="241401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Create Project, add project to Program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1728" y="279806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Load Data of Project (schedule, risk,…)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1728" y="318211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Impact: Schedule delay XX working days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35661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Recommendation: escalate env · close blocking QA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1728" y="39502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Evidence panel: exact source rows behind each claim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81728" y="43342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PM accepts · risk logged · report updated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Intelligence to Org-Wide Delivery Intelligence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886200" cy="3593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88620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Built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score &amp; risk flags (19 rules)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Root cause via causal chains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 Schedule impact (propagated delay)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narrative — 8-stage validated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Portfolio · Program · Project screens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Evidence panel (trace to source rows)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+ Reports (docx/xlsx)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15968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92040" y="1298448"/>
            <a:ext cx="3886200" cy="3593592"/>
          </a:xfrm>
          <a:prstGeom prst="rect">
            <a:avLst/>
          </a:prstGeom>
          <a:solidFill>
            <a:srgbClr val="FEF0E4"/>
          </a:solidFill>
          <a:ln w="1905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892040" y="1298448"/>
            <a:ext cx="3886200" cy="42062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029200" y="1325880"/>
            <a:ext cx="40429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Planned (</a:t>
            </a:r>
            <a:r>
              <a:rPr lang="ja-JP" altLang="ja-JP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For both projects and programs)</a:t>
            </a: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182880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Historical case retrieval (similar past projects)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17627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Predictive finish ranges from measured drift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252374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Real-time Jira / Redmine / git live connectors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8712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Proactive alerting (rules, thresholds, schedules)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21868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Custom workflow automation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356616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Role-based permissions (PM / DM / executive)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91363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Organization memory across completed projects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426110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API for integration with FPT tooling</a:t>
            </a:r>
            <a:endParaRPr lang="en-US" sz="105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E8D74DA-DD55-96C7-0FC1-6EFFE18F3915}"/>
              </a:ext>
            </a:extLst>
          </p:cNvPr>
          <p:cNvSpPr/>
          <p:nvPr/>
        </p:nvSpPr>
        <p:spPr>
          <a:xfrm>
            <a:off x="5029200" y="459812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Apply AI for  Cost/Resources Impact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replace the Project Manager."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5361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eliminate the time spent finding problems, connecting fragmented signals, and deciding what to do next.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2286000" cy="1463040"/>
          </a:xfrm>
          <a:prstGeom prst="rect">
            <a:avLst/>
          </a:prstGeom>
          <a:solidFill>
            <a:srgbClr val="12254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2286000" cy="548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62656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resolves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source record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468880"/>
            <a:ext cx="2286000" cy="1463040"/>
          </a:xfrm>
          <a:prstGeom prst="rect">
            <a:avLst/>
          </a:prstGeom>
          <a:solidFill>
            <a:srgbClr val="12254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566160" y="2468880"/>
            <a:ext cx="2286000" cy="548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657600" y="2578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962656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guesses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writes sentences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286000" cy="1463040"/>
          </a:xfrm>
          <a:prstGeom prst="rect">
            <a:avLst/>
          </a:prstGeom>
          <a:solidFill>
            <a:srgbClr val="122548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286000" cy="5486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2578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Scope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962656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Program · Portfolio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intelligence layer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91830"/>
          </a:solidFill>
          <a:ln w="12700">
            <a:solidFill>
              <a:srgbClr val="0918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43159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Pulse AI  ·  PiMSathon 2026  ·  FPT Software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Redmine · Backlog · Excel → Intelligence Layer → PM decisions that trace back to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24912" cy="822960"/>
          </a:xfrm>
          <a:prstGeom prst="roundRect">
            <a:avLst>
              <a:gd name="adj" fmla="val 8889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problem &amp; product vision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scope &amp; priority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883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stories &amp; acceptance criteria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18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data preparation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47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logic definition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story &amp; scenario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07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Plays PM role in demo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91440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337560" y="914400"/>
            <a:ext cx="2724912" cy="822960"/>
          </a:xfrm>
          <a:prstGeom prst="roundRect">
            <a:avLst>
              <a:gd name="adj" fmla="val 8889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3337560" y="9144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dashboard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+ data model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6883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 Engine implementation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118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integration &amp; prompts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547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reasoning flow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fixing &amp; stable build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914400"/>
            <a:ext cx="2724912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217920" y="9144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389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ThaoNTT137</a:t>
            </a:r>
          </a:p>
        </p:txBody>
      </p:sp>
      <p:sp>
        <p:nvSpPr>
          <p:cNvPr id="28" name="Text 26"/>
          <p:cNvSpPr txBox="1"/>
          <p:nvPr/>
        </p:nvSpPr>
        <p:spPr>
          <a:xfrm>
            <a:off x="630936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research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 analysis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26883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 story &amp; narrative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118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script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547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 deck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descriptions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407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explanation</a:t>
            </a:r>
            <a:endParaRPr lang="en-US" sz="105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B62B9216-029B-80B1-933A-B2F25F66F790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EE0D1F26-518C-8C8C-1ECC-9E79CC2E1529}"/>
              </a:ext>
            </a:extLst>
          </p:cNvPr>
          <p:cNvSpPr/>
          <p:nvPr/>
        </p:nvSpPr>
        <p:spPr>
          <a:xfrm>
            <a:off x="36576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28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B1911DF1-E103-5F76-7FCE-C89B66EB0945}"/>
              </a:ext>
            </a:extLst>
          </p:cNvPr>
          <p:cNvSpPr txBox="1"/>
          <p:nvPr/>
        </p:nvSpPr>
        <p:spPr>
          <a:xfrm>
            <a:off x="443484" y="130628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TuaND5</a:t>
            </a:r>
            <a:endParaRPr lang="en-US" sz="105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C2E621E-724F-D9F5-BD5C-AF70B86AEC99}"/>
              </a:ext>
            </a:extLst>
          </p:cNvPr>
          <p:cNvSpPr txBox="1"/>
          <p:nvPr/>
        </p:nvSpPr>
        <p:spPr>
          <a:xfrm>
            <a:off x="3323844" y="13441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TriLTM5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01e930a-b52e-42b1-b70f-a8882b5d043b}" enabled="0" method="" siteId="{f01e930a-b52e-42b1-b70f-a8882b5d04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1250</Words>
  <Application>Microsoft Office PowerPoint</Application>
  <PresentationFormat>On-screen Show (16:9)</PresentationFormat>
  <Paragraphs>260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Tuan Nguyen Duc</cp:lastModifiedBy>
  <cp:revision>38</cp:revision>
  <dcterms:created xsi:type="dcterms:W3CDTF">2026-09-12T13:23:28Z</dcterms:created>
  <dcterms:modified xsi:type="dcterms:W3CDTF">2026-09-12T14:28:48Z</dcterms:modified>
</cp:coreProperties>
</file>