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657600" cy="3657600"/>
          </a:xfrm>
          <a:prstGeom prst="ellipse">
            <a:avLst/>
          </a:prstGeom>
          <a:solidFill>
            <a:srgbClr val="0284C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657600"/>
            <a:ext cx="2103120" cy="21031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2560320" cy="301752"/>
          </a:xfrm>
          <a:prstGeom prst="roundRect">
            <a:avLst>
              <a:gd name="adj" fmla="val 15152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9144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PiMSathon · Apply AI Competition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7132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Pulse AI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Intelligence Platform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project data to proactive decisions.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7033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55648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715768" y="37033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922776" y="37033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169664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129784" y="37033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76672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336792" y="37033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37033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90688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634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Delivery  ·  Offshore  ·  AI-Powered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657600" cy="3657600"/>
          </a:xfrm>
          <a:prstGeom prst="ellipse">
            <a:avLst/>
          </a:prstGeom>
          <a:solidFill>
            <a:srgbClr val="0284C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657600"/>
            <a:ext cx="2103120" cy="21031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011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200400" cy="3931920"/>
          </a:xfrm>
          <a:prstGeom prst="roundRect">
            <a:avLst>
              <a:gd name="adj" fmla="val 2286"/>
            </a:avLst>
          </a:prstGeom>
          <a:solidFill>
            <a:srgbClr val="1623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051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 Sources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4630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WBS / Schedule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4708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Requirement / QA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23113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 / Risk Log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6151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/ Defect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9992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 &amp; Effort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3832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Meeting Minutes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76732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Jira / Redmine / Excel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1513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/ Chat / Git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005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Yet…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14630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must manually read, synthesize, connect signals, and judge what is going wrong.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31920" y="228600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3192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delivery delay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31920" y="2944368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931920" y="29443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QA not closed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401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931920" y="3602736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31920" y="36027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test preparation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42611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931920" y="4572000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7C3A0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931920" y="4572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must figure this out alone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Tell You WHAT — Not WHY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977640"/>
          </a:xfrm>
          <a:prstGeom prst="roundRect">
            <a:avLst>
              <a:gd name="adj" fmla="val 1905"/>
            </a:avLst>
          </a:prstGeom>
          <a:solidFill>
            <a:srgbClr val="E2EF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PM Tools Answer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447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 What is happening? ❞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93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Schedule: 3 critical tasks delayed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23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QA: 4 blocking items unresolved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529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readiness: 72% (expected 90%)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Environment: +3 days late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74904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C3D9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visible — but PM still interprets alone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3840480" cy="3977640"/>
          </a:xfrm>
          <a:prstGeom prst="roundRect">
            <a:avLst>
              <a:gd name="adj" fmla="val 1905"/>
            </a:avLst>
          </a:prstGeom>
          <a:solidFill>
            <a:srgbClr val="FE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348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PM Actually Needs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4813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 WHY is this happening? ❞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0756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 WHAT will it impact? ❞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26700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 WHAT should I do next? ❞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2644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 Has this happened before? ❞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83480" y="3913632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FECAC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9136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cannot answer these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Trend &amp; Our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749040" cy="3977640"/>
          </a:xfrm>
          <a:prstGeom prst="roundRect">
            <a:avLst>
              <a:gd name="adj" fmla="val 1951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Shifting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1444752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CBD5E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4447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 (Most tools today)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73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 ·  Generate  ·  Search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957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" y="28346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0D1B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28346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 (Where market is heading)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2004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 ·  Detect  ·  Reason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 ·  Act  ·  Learn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434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Mastt, monday.com, Asana, Wrike &amp; 10+ others moving this way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914400"/>
            <a:ext cx="4251960" cy="3977640"/>
          </a:xfrm>
          <a:prstGeom prst="roundRect">
            <a:avLst>
              <a:gd name="adj" fmla="val 1839"/>
            </a:avLst>
          </a:prstGeom>
          <a:solidFill>
            <a:srgbClr val="F0FD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10058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Opportunity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1444752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17720" y="1444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PM Platforms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1764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Asana · Monday · ClickUp · Wrike · Smartsheet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17720" y="278892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2788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31821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Delivery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Offshore Project Intelligence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886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AI that understands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→ Code → Test → Release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657600" cy="3657600"/>
          </a:xfrm>
          <a:prstGeom prst="ellipse">
            <a:avLst/>
          </a:prstGeom>
          <a:solidFill>
            <a:srgbClr val="0284C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657600"/>
            <a:ext cx="2103120" cy="21031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011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Vision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 Project Managers understand what is wrong, why, what the impact is, and what to do next.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50392" cy="960120"/>
          </a:xfrm>
          <a:prstGeom prst="roundRect">
            <a:avLst>
              <a:gd name="adj" fmla="val 8602"/>
            </a:avLst>
          </a:prstGeom>
          <a:solidFill>
            <a:srgbClr val="1A2E4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72768"/>
            <a:ext cx="850392" cy="201168"/>
          </a:xfrm>
          <a:prstGeom prst="roundRect">
            <a:avLst>
              <a:gd name="adj" fmla="val 36364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78308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6771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signals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18288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36776" y="1572768"/>
            <a:ext cx="850392" cy="960120"/>
          </a:xfrm>
          <a:prstGeom prst="roundRect">
            <a:avLst>
              <a:gd name="adj" fmla="val 8602"/>
            </a:avLst>
          </a:prstGeom>
          <a:solidFill>
            <a:srgbClr val="1A2E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636776" y="1572768"/>
            <a:ext cx="850392" cy="201168"/>
          </a:xfrm>
          <a:prstGeom prst="roundRect">
            <a:avLst>
              <a:gd name="adj" fmla="val 36364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36776" y="178308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636776" y="226771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signals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487168" y="18288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16352" y="1572768"/>
            <a:ext cx="850392" cy="960120"/>
          </a:xfrm>
          <a:prstGeom prst="roundRect">
            <a:avLst>
              <a:gd name="adj" fmla="val 8602"/>
            </a:avLst>
          </a:prstGeom>
          <a:solidFill>
            <a:srgbClr val="1A2E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816352" y="1572768"/>
            <a:ext cx="850392" cy="201168"/>
          </a:xfrm>
          <a:prstGeom prst="roundRect">
            <a:avLst>
              <a:gd name="adj" fmla="val 36364"/>
            </a:avLst>
          </a:prstGeom>
          <a:solidFill>
            <a:srgbClr val="818C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816352" y="178308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816352" y="226771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anomalies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666744" y="18288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95928" y="1572768"/>
            <a:ext cx="850392" cy="960120"/>
          </a:xfrm>
          <a:prstGeom prst="roundRect">
            <a:avLst>
              <a:gd name="adj" fmla="val 8602"/>
            </a:avLst>
          </a:prstGeom>
          <a:solidFill>
            <a:srgbClr val="1A2E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995928" y="1572768"/>
            <a:ext cx="850392" cy="201168"/>
          </a:xfrm>
          <a:prstGeom prst="roundRect">
            <a:avLst>
              <a:gd name="adj" fmla="val 36364"/>
            </a:avLst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995928" y="178308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995928" y="226771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18288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75504" y="1572768"/>
            <a:ext cx="850392" cy="960120"/>
          </a:xfrm>
          <a:prstGeom prst="roundRect">
            <a:avLst>
              <a:gd name="adj" fmla="val 8602"/>
            </a:avLst>
          </a:prstGeom>
          <a:solidFill>
            <a:srgbClr val="1A2E44"/>
          </a:solidFill>
          <a:ln/>
        </p:spPr>
      </p:sp>
      <p:sp>
        <p:nvSpPr>
          <p:cNvPr id="27" name="Shape 25"/>
          <p:cNvSpPr/>
          <p:nvPr/>
        </p:nvSpPr>
        <p:spPr>
          <a:xfrm>
            <a:off x="5175504" y="1572768"/>
            <a:ext cx="850392" cy="201168"/>
          </a:xfrm>
          <a:prstGeom prst="roundRect">
            <a:avLst>
              <a:gd name="adj" fmla="val 36364"/>
            </a:avLst>
          </a:prstGeom>
          <a:solidFill>
            <a:srgbClr val="EC48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75504" y="178308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175504" y="226771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025896" y="18288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5080" y="1572768"/>
            <a:ext cx="850392" cy="960120"/>
          </a:xfrm>
          <a:prstGeom prst="roundRect">
            <a:avLst>
              <a:gd name="adj" fmla="val 8602"/>
            </a:avLst>
          </a:prstGeom>
          <a:solidFill>
            <a:srgbClr val="1A2E44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1572768"/>
            <a:ext cx="850392" cy="201168"/>
          </a:xfrm>
          <a:prstGeom prst="roundRect">
            <a:avLst>
              <a:gd name="adj" fmla="val 36364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178308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226771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confirms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7205472" y="18288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34656" y="1572768"/>
            <a:ext cx="850392" cy="960120"/>
          </a:xfrm>
          <a:prstGeom prst="roundRect">
            <a:avLst>
              <a:gd name="adj" fmla="val 8602"/>
            </a:avLst>
          </a:prstGeom>
          <a:solidFill>
            <a:srgbClr val="1A2E44"/>
          </a:solidFill>
          <a:ln/>
        </p:spPr>
      </p:sp>
      <p:sp>
        <p:nvSpPr>
          <p:cNvPr id="37" name="Shape 35"/>
          <p:cNvSpPr/>
          <p:nvPr/>
        </p:nvSpPr>
        <p:spPr>
          <a:xfrm>
            <a:off x="7534656" y="1572768"/>
            <a:ext cx="850392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534656" y="1783080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534656" y="226771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history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2880360"/>
            <a:ext cx="269748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7200" y="28803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Not another dashboard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355848" y="2880360"/>
            <a:ext cx="269748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355848" y="28803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Not another chatbot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54496" y="2880360"/>
            <a:ext cx="2697480" cy="475488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254496" y="28803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Not another reporting tool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3520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that SEEs your data, REASONS about risk, and tells you WHAT TO DO NEXT.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Delivery intelligence layer on top of Jira · Redmine · Excel · Git · Teams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89888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48132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98448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389888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3756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13632" y="148132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298448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0760" y="1389888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8076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148132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25146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Questions They Ask Every Day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944368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 Which project has the highest risk? ❞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944368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 Why did Project A go from Green → Yellow? ❞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493008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 What issue should I handle today? ❞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493008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 What will happen if I don't act now? ❞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41648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 Has the team faced this problem before? ❞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4041648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 What should I do next? ❞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Positioning: Intelligence Layer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2E8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3995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Project Tools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3159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BD5E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90472" y="43159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BD5E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90472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Redmine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86584" y="43159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BD5E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86584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82696" y="43159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BD5E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82696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78808" y="43159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BD5E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78808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74920" y="43159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BD5E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7492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71032" y="43159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BD5E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71032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67144" y="43159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BD5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67144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List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763256" y="431596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BD5E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63256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Log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395728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0D1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24505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INTELLIGENCE LAYER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2852928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1A2E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28529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Normalizer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85416" y="2852928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1A2E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185416" y="28529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76472" y="2852928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1A2E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776472" y="28529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67528" y="2852928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1A2E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67528" y="28529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58584" y="2852928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1A2E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58584" y="28529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Model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96012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94360" y="987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Outputs (for PM)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" y="1298448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D1FAE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94360" y="1298448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938528" y="1298448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D1FAE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938528" y="1298448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82696" y="1298448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D1FAE5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282696" y="1298448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26864" y="1298448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D1FAE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626864" y="1298448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71032" y="1298448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D1FAE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971032" y="1298448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15200" y="1298448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D1FAE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315200" y="1298448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3931920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3931920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Feature: Status Bands &amp; Risk Detection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977640"/>
          </a:xfrm>
          <a:prstGeom prst="roundRect">
            <a:avLst>
              <a:gd name="adj" fmla="val 1905"/>
            </a:avLst>
          </a:prstGeom>
          <a:solidFill>
            <a:srgbClr val="F0FD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005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63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23160" y="1536192"/>
            <a:ext cx="12344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423160" y="1536192"/>
            <a:ext cx="740664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14630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836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1956816"/>
            <a:ext cx="12344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2423160" y="1956816"/>
            <a:ext cx="370332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188366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3042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23160" y="2377440"/>
            <a:ext cx="12344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2423160" y="2377440"/>
            <a:ext cx="740664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23042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7249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23160" y="2798064"/>
            <a:ext cx="12344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2423160" y="2798064"/>
            <a:ext cx="740664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57600" y="272491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1455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23160" y="3218688"/>
            <a:ext cx="12344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2423160" y="3218688"/>
            <a:ext cx="1086307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657600" y="314553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566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423160" y="3639312"/>
            <a:ext cx="12344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423160" y="3639312"/>
            <a:ext cx="1086307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57600" y="35661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4041648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406908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explains: Schedule is RED because 3 critical-path tasks are delayed and environment is blocking IT preparation.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914400"/>
            <a:ext cx="3840480" cy="3977640"/>
          </a:xfrm>
          <a:prstGeom prst="roundRect">
            <a:avLst>
              <a:gd name="adj" fmla="val 1905"/>
            </a:avLst>
          </a:prstGeom>
          <a:solidFill>
            <a:srgbClr val="FEF2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983480" y="1005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Detection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83480" y="1444752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983480" y="1444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NEW RISK DETECTED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983480" y="18470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 Readiness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98348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HIGH  ·  Impact: HIGH  ·  Evidence: 3 source rows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983480" y="2651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983480" y="29992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 delivery: +3 working days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983480" y="339242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Blocking QA items: 4 unresolved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983480" y="37856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readiness: 72% vs. 90% expected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83480" y="4224528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ECAC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983480" y="42245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always cites its evidence_basis — the exact source rows behind it. Never just a claim.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&amp; Impact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977640"/>
          </a:xfrm>
          <a:prstGeom prst="roundRect">
            <a:avLst>
              <a:gd name="adj" fmla="val 1905"/>
            </a:avLst>
          </a:prstGeom>
          <a:solidFill>
            <a:srgbClr val="FFFB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005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44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clicks: "WHY?" →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DE68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8288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CAUSE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Environment Delivery: +3 working days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523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Blocking QA items remain unresolved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56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Chain: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7764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Env Delay → IT Setup Blocked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114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Setup Blocked → IT Preparation Delayed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4531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Preparation Delayed → IT Start At Risk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914400"/>
            <a:ext cx="3840480" cy="3977640"/>
          </a:xfrm>
          <a:prstGeom prst="roundRect">
            <a:avLst>
              <a:gd name="adj" fmla="val 1905"/>
            </a:avLst>
          </a:prstGeom>
          <a:solidFill>
            <a:srgbClr val="EFF6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83480" y="1005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1417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resolved, what happens?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178308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74920" y="1810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1810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+3 days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2441448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7492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8 → Sep 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3099816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74920" y="3127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Start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31272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days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3758184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74920" y="378561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Buffer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378561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→ 2 days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4462272"/>
            <a:ext cx="3566160" cy="274320"/>
          </a:xfrm>
          <a:prstGeom prst="roundRect">
            <a:avLst>
              <a:gd name="adj" fmla="val 26667"/>
            </a:avLst>
          </a:prstGeom>
          <a:solidFill>
            <a:srgbClr val="BFDBF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983480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propagates the slip through the dependency chain (propagated_days) — before the sheet shows it.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Recommendations &amp; 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977640"/>
          </a:xfrm>
          <a:prstGeom prst="roundRect">
            <a:avLst>
              <a:gd name="adj" fmla="val 1905"/>
            </a:avLst>
          </a:prstGeom>
          <a:solidFill>
            <a:srgbClr val="F0FD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005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Recommended Actions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3566160" cy="804672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508760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14813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SSO Environment Delivery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Infrastructure Team  ·  Due: Today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340864"/>
            <a:ext cx="356616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240487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23774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4 blocking QA items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2724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Dev + QA team  ·  Due: 2 days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236976"/>
            <a:ext cx="356616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3300984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69848" y="32735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mock integration environment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3621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Dev Lead  ·  Due: 3 days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4133088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1330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can Accept · Modify · Ignore. AI does not decide for the PM.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914400"/>
            <a:ext cx="3840480" cy="3977640"/>
          </a:xfrm>
          <a:prstGeom prst="roundRect">
            <a:avLst>
              <a:gd name="adj" fmla="val 1905"/>
            </a:avLst>
          </a:prstGeom>
          <a:solidFill>
            <a:srgbClr val="F5F3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83480" y="1005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Precedent Retrieval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1417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built — the natural next layer once more project history is captured: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182880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0D1B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83480" y="1874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PLANNED, PHASE 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search over past projects (pgvector)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25328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CREATE EXTENSION vector + indexed project history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28163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then: recommendations come from the rule table, not precedent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30906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every recommendation traces to a rule — never a guess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983480" y="3566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983480" y="38587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Problem → Rule Table → Evidence-Backed Recommendation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657600" cy="3657600"/>
          </a:xfrm>
          <a:prstGeom prst="ellipse">
            <a:avLst/>
          </a:prstGeom>
          <a:solidFill>
            <a:srgbClr val="0284C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657600"/>
            <a:ext cx="2103120" cy="21031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011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Demo Story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162334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1078992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0352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11064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Opens Dashboard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36192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was 🟢 yesterday. Today it shows 🔴. AI: "Integration Test readiness is at risk."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987552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162334"/>
          </a:solidFill>
          <a:ln/>
        </p:spPr>
      </p:sp>
      <p:sp>
        <p:nvSpPr>
          <p:cNvPr id="11" name="Shape 9"/>
          <p:cNvSpPr/>
          <p:nvPr/>
        </p:nvSpPr>
        <p:spPr>
          <a:xfrm>
            <a:off x="3410712" y="1078992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10712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67912" y="11064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Asks WHY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536192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Environment +3 days, 4 blocking QA, IT readiness 72% vs. 90% expected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987552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1623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078992"/>
            <a:ext cx="384048" cy="38404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91072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11064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536192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IT Start at risk of +2–4 working days. Release buffer: 5d → 2d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53512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1623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304495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035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30723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a Recovery Scenario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502152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Shortening the mock-env setup recovers 3 of 5 days — measured against doing nothing and against the original commitment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953512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162334"/>
          </a:solidFill>
          <a:ln/>
        </p:spPr>
      </p:sp>
      <p:sp>
        <p:nvSpPr>
          <p:cNvPr id="26" name="Shape 24"/>
          <p:cNvSpPr/>
          <p:nvPr/>
        </p:nvSpPr>
        <p:spPr>
          <a:xfrm>
            <a:off x="3410712" y="3044952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1071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867912" y="30723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Plan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3502152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Escalate env  2) Close blocking QA  3) Prepare mock integration environment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953512"/>
            <a:ext cx="2697480" cy="1810512"/>
          </a:xfrm>
          <a:prstGeom prst="roundRect">
            <a:avLst>
              <a:gd name="adj" fmla="val 4040"/>
            </a:avLst>
          </a:prstGeom>
          <a:solidFill>
            <a:srgbClr val="1623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291072" y="30449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9107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748272" y="30723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Approves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3502152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logged · Action items created · Weekly report updated · Escalation drafted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657600" cy="3657600"/>
          </a:xfrm>
          <a:prstGeom prst="ellipse">
            <a:avLst/>
          </a:prstGeom>
          <a:solidFill>
            <a:srgbClr val="0284C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657600"/>
            <a:ext cx="2103120" cy="21031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011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pragmatic for Phase 1. No enterprise-scale complexity needed.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A2E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/ Excel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8988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A2E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6888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Issue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38988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A2E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138988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A2E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1938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2304288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1623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71600" y="23042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NORMALIZER  →  PROJECT MODEL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852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1A2E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18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844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bands · Signal 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· Explainability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3218688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1A2E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0" y="3218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5844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validated facts into prose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shown a digit, never emits one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35204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3977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4279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71600" y="4590288"/>
            <a:ext cx="6400800" cy="384048"/>
          </a:xfrm>
          <a:prstGeom prst="roundRect">
            <a:avLst>
              <a:gd name="adj" fmla="val 19048"/>
            </a:avLst>
          </a:prstGeom>
          <a:solidFill>
            <a:srgbClr val="0D213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371600" y="459028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INTELLIGENCE  →  Status · Risk · Root Cause · Impact (propagated_days) · Recommend · Report Export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Scope &amp; Schedule  (28/08 – 11/09)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0058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Prove the Core Idea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44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Blank Canvas + Add Tile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214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Dashboard Templates (2–3)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597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Dashboard Creator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980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Project Health Score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1363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Risk Detection (AI)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747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Root Cause Analysis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8130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Impact Assessment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1513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 Actions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5537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Phase 1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914400"/>
          <a:ext cx="4892040" cy="397764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269748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04/09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Alignment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/ Scope / Feasibility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+ Data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 / Sample Data / Skeleton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06/09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MVP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Logic + Dashboard UI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Rule + AI Risk Engine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08/09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Logic + Root Cause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09/09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Knowledge + AI Recommend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Demo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Test + Bug Fixing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Validation + Pitch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BF5F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724912" cy="822960"/>
          </a:xfrm>
          <a:prstGeom prst="roundRect">
            <a:avLst>
              <a:gd name="adj" fmla="val 8889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 / Manager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+ PM + Business Expert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problem &amp; product vision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scope &amp; priority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8833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stories &amp; acceptance criteria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181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data preparation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47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logic definition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story &amp; scenario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07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Plays PM role in demo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91440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914400"/>
            <a:ext cx="2724912" cy="822960"/>
          </a:xfrm>
          <a:prstGeom prst="roundRect">
            <a:avLst>
              <a:gd name="adj" fmla="val 8889"/>
            </a:avLst>
          </a:prstGeom>
          <a:solidFill>
            <a:srgbClr val="0284C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37560" y="91440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13898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AI Engineering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dashboard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+ data model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268833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 Engine implementation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1181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integration &amp; prompts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547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reasoning flow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977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 fixing &amp; stable build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91440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F5F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914400"/>
            <a:ext cx="2724912" cy="82296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91440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Communicator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13898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· Story · Presentation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research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Competitor analysis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268833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Pitch story &amp; narrative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31181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script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547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Slide deck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3977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descriptions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4407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explanation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must produce something demoable. Working demo &gt; number of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657600" cy="3657600"/>
          </a:xfrm>
          <a:prstGeom prst="ellipse">
            <a:avLst/>
          </a:prstGeom>
          <a:solidFill>
            <a:srgbClr val="0284C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657600"/>
            <a:ext cx="2103120" cy="21031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011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Done – Phase 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succeeds when a PM can do this in one flow: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6233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8191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490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801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projects with a status band at a glance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62334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58191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490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 Risky Project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801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changed from Healthy to Critical overnight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22199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623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386584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2951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Risk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shows the detected risk with its evidence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22199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62334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2386584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4632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22951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with supporting evidence displayed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0266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623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191256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30998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Impact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4107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milestones and dates are affected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266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62334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3191256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4632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303520" y="30998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Action Plan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34107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recommendations with owners, grounded in the rule trace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831336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62334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399592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" y="39044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Decides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" y="4215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modify, or ignore. PM is always in control.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657600" cy="3657600"/>
          </a:xfrm>
          <a:prstGeom prst="ellipse">
            <a:avLst/>
          </a:prstGeom>
          <a:solidFill>
            <a:srgbClr val="0284C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657600"/>
            <a:ext cx="2103120" cy="21031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623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594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PM Tool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024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481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Dashboard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Human Analysis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395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Decision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50292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0D21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594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Pulse AI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0241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AI Detection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7190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Root Cause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0665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Impact Analysis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4140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Recommendation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7614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PM Decision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623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replace the Project Manager. We eliminate the time spent finding problems, connecting fragmented signals, and deciding what to do next.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Pulse AI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 ·  UNDERSTAND  ·  DETECT  ·  EXPLAIN  ·  RECOMMEND  ·  ACT  ·  LEARN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2026-09-04T03:21:27Z</dcterms:created>
  <dcterms:modified xsi:type="dcterms:W3CDTF">2026-09-04T03:21:27Z</dcterms:modified>
</cp:coreProperties>
</file>